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Mercado (R$ bi)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D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2025*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</c:v>
                </c:pt>
                <c:pt idx="1">
                  <c:v>103</c:v>
                </c:pt>
                <c:pt idx="2">
                  <c:v>107</c:v>
                </c:pt>
                <c:pt idx="3">
                  <c:v>111</c:v>
                </c:pt>
                <c:pt idx="4">
                  <c:v>115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D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95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95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Faturamento (R$ k)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D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Atual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110</c:v>
                </c:pt>
                <c:pt idx="1">
                  <c:v>125</c:v>
                </c:pt>
                <c:pt idx="2">
                  <c:v>145</c:v>
                </c:pt>
                <c:pt idx="3">
                  <c:v>170</c:v>
                </c:pt>
                <c:pt idx="4">
                  <c:v>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 IA (R$ k)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D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Atual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5</c:v>
                </c:pt>
                <c:pt idx="2">
                  <c:v>8</c:v>
                </c:pt>
                <c:pt idx="3">
                  <c:v>7</c:v>
                </c:pt>
                <c:pt idx="4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D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95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95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Conservador</c:v>
                </c:pt>
              </c:strCache>
            </c:strRef>
          </c:tx>
          <c:spPr>
            <a:solidFill>
              <a:srgbClr val="8E95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D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Atual</c:v>
                  </c:pt>
                  <c:pt idx="1">
                    <c:v>3 meses</c:v>
                  </c:pt>
                  <c:pt idx="2">
                    <c:v>6 meses</c:v>
                  </c:pt>
                  <c:pt idx="3">
                    <c:v>9 meses</c:v>
                  </c:pt>
                  <c:pt idx="4">
                    <c:v>12 meses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110</c:v>
                </c:pt>
                <c:pt idx="1">
                  <c:v>118</c:v>
                </c:pt>
                <c:pt idx="2">
                  <c:v>130</c:v>
                </c:pt>
                <c:pt idx="3">
                  <c:v>148</c:v>
                </c:pt>
                <c:pt idx="4">
                  <c:v>165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Moderado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D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Atual</c:v>
                  </c:pt>
                  <c:pt idx="1">
                    <c:v>3 meses</c:v>
                  </c:pt>
                  <c:pt idx="2">
                    <c:v>6 meses</c:v>
                  </c:pt>
                  <c:pt idx="3">
                    <c:v>9 meses</c:v>
                  </c:pt>
                  <c:pt idx="4">
                    <c:v>12 meses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110</c:v>
                </c:pt>
                <c:pt idx="1">
                  <c:v>125</c:v>
                </c:pt>
                <c:pt idx="2">
                  <c:v>145</c:v>
                </c:pt>
                <c:pt idx="3">
                  <c:v>170</c:v>
                </c:pt>
                <c:pt idx="4">
                  <c:v>210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Otimista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D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Atual</c:v>
                  </c:pt>
                  <c:pt idx="1">
                    <c:v>3 meses</c:v>
                  </c:pt>
                  <c:pt idx="2">
                    <c:v>6 meses</c:v>
                  </c:pt>
                  <c:pt idx="3">
                    <c:v>9 meses</c:v>
                  </c:pt>
                  <c:pt idx="4">
                    <c:v>12 meses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110</c:v>
                </c:pt>
                <c:pt idx="1">
                  <c:v>135</c:v>
                </c:pt>
                <c:pt idx="2">
                  <c:v>165</c:v>
                </c:pt>
                <c:pt idx="3">
                  <c:v>205</c:v>
                </c:pt>
                <c:pt idx="4">
                  <c:v>280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D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95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95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.xml"/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png"/><Relationship Id="rId15" Type="http://schemas.openxmlformats.org/officeDocument/2006/relationships/image" Target="../media/image-2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E75B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F39C12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CROMA PRINT 4.0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Primeira Empresa de Comunicação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0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Gerida por IA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2880360"/>
            <a:ext cx="18288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Estratégico de Transformação Digital  |  Março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640080" cy="64008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400050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Claude Opus 4.6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CROMA PRINT 4.0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411480"/>
            <a:ext cx="182880" cy="1828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da apresentação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8074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325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Oportunidade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15727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agora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911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19842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é a Croma Print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51560" y="22311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e posicionamento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9748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26426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Atual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051560" y="28895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Maturidade digital 67%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5584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33009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&amp; Concorrência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051560" y="35478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R$ 115 bi, sem IA integrada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14216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3959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Croma Print 4.0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051560" y="4206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operacional futuro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380744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257800" y="1325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IA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5257800" y="15727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como cérebro central</a:t>
            </a:r>
            <a:endParaRPr lang="en-US" sz="10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039112"/>
            <a:ext cx="292608" cy="29260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257800" y="19842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4 Fases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5257800" y="22311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e entregas</a:t>
            </a:r>
            <a:endParaRPr lang="en-US" sz="10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2697480"/>
            <a:ext cx="292608" cy="29260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257800" y="26426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 &amp; ROI</a:t>
            </a:r>
            <a:endParaRPr lang="en-US" sz="1300" dirty="0"/>
          </a:p>
        </p:txBody>
      </p:sp>
      <p:sp>
        <p:nvSpPr>
          <p:cNvPr id="31" name="Text 21"/>
          <p:cNvSpPr/>
          <p:nvPr/>
        </p:nvSpPr>
        <p:spPr>
          <a:xfrm>
            <a:off x="5257800" y="28895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e cenários</a:t>
            </a:r>
            <a:endParaRPr lang="en-US" sz="10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3355848"/>
            <a:ext cx="292608" cy="29260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257800" y="33009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&amp; Governança</a:t>
            </a:r>
            <a:endParaRPr lang="en-US" sz="1300" dirty="0"/>
          </a:p>
        </p:txBody>
      </p:sp>
      <p:sp>
        <p:nvSpPr>
          <p:cNvPr id="34" name="Text 23"/>
          <p:cNvSpPr/>
          <p:nvPr/>
        </p:nvSpPr>
        <p:spPr>
          <a:xfrm>
            <a:off x="5257800" y="35478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Mitigação e KPIs</a:t>
            </a:r>
            <a:endParaRPr lang="en-US" sz="10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4014216"/>
            <a:ext cx="292608" cy="29260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257800" y="3959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&amp; Próximos Passos</a:t>
            </a:r>
            <a:endParaRPr lang="en-US" sz="1300" dirty="0"/>
          </a:p>
        </p:txBody>
      </p:sp>
      <p:sp>
        <p:nvSpPr>
          <p:cNvPr id="37" name="Text 25"/>
          <p:cNvSpPr/>
          <p:nvPr/>
        </p:nvSpPr>
        <p:spPr>
          <a:xfrm>
            <a:off x="5257800" y="4206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30/60/90 dias</a:t>
            </a:r>
            <a:endParaRPr lang="en-US" sz="1000" dirty="0"/>
          </a:p>
        </p:txBody>
      </p:sp>
      <p:sp>
        <p:nvSpPr>
          <p:cNvPr id="38" name="Shape 26"/>
          <p:cNvSpPr/>
          <p:nvPr/>
        </p:nvSpPr>
        <p:spPr>
          <a:xfrm>
            <a:off x="4572000" y="1280160"/>
            <a:ext cx="0" cy="3291840"/>
          </a:xfrm>
          <a:prstGeom prst="line">
            <a:avLst/>
          </a:prstGeom>
          <a:noFill/>
          <a:ln w="12700">
            <a:solidFill>
              <a:srgbClr val="C5CAD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CROMA PRINT 4.0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Oportunidade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411480"/>
            <a:ext cx="182880" cy="1828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janela única de pioneirismo no setor gráfico brasileiro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4864" cy="32004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F39C1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2593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22402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Nenhuma empresa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comunicação visual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Brasil usa IA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forma integrada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3520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Croma Print pode ser a primeira a operar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inteligência artificial como motor central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todas as operações.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137160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371600"/>
            <a:ext cx="54864" cy="91440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0876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3212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de R$ 115 Bi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532120" y="17556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gráfico sem digitalização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avançada — oportunidade aberta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0" y="246888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754880" y="2468880"/>
            <a:ext cx="54864" cy="91440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60604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53212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Mover Advantage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532120" y="28529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12-18 meses de janela para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consolidar posição de pioneiro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54880" y="3566160"/>
            <a:ext cx="54864" cy="91440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70332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3212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com IA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532120" y="39502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pode subir 15-25pp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automação inteligente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CROMA PRINT 4.0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Quem é a Croma Print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411480"/>
            <a:ext cx="182880" cy="1828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visual profissional com 307 clientes ativos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8745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4864" cy="146304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1965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R$ 110k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4864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 Mensal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14600" y="1371600"/>
            <a:ext cx="18745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14600" y="1371600"/>
            <a:ext cx="54864" cy="146304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55448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06040" y="1965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307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260604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Ativos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0" y="1371600"/>
            <a:ext cx="18745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0" y="1371600"/>
            <a:ext cx="54864" cy="146304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55448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63440" y="1965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466344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Func. Produção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629400" y="1371600"/>
            <a:ext cx="18745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29400" y="1371600"/>
            <a:ext cx="54864" cy="146304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55448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20840" y="1965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67%</a:t>
            </a:r>
            <a:endParaRPr lang="en-US" sz="2800" dirty="0"/>
          </a:p>
        </p:txBody>
      </p:sp>
      <p:sp>
        <p:nvSpPr>
          <p:cNvPr id="27" name="Text 21"/>
          <p:cNvSpPr/>
          <p:nvPr/>
        </p:nvSpPr>
        <p:spPr>
          <a:xfrm>
            <a:off x="672084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Maturidade Digital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73152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Nossos Serviços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731520" y="3657600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1" name="Text 25"/>
          <p:cNvSpPr/>
          <p:nvPr/>
        </p:nvSpPr>
        <p:spPr>
          <a:xfrm>
            <a:off x="960120" y="3611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Fachadas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2743200" y="3657600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3" name="Text 27"/>
          <p:cNvSpPr/>
          <p:nvPr/>
        </p:nvSpPr>
        <p:spPr>
          <a:xfrm>
            <a:off x="2971800" y="3611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Banners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754880" y="3657600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5" name="Text 29"/>
          <p:cNvSpPr/>
          <p:nvPr/>
        </p:nvSpPr>
        <p:spPr>
          <a:xfrm>
            <a:off x="4983480" y="3611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PDV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6766560" y="3657600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7" name="Text 31"/>
          <p:cNvSpPr/>
          <p:nvPr/>
        </p:nvSpPr>
        <p:spPr>
          <a:xfrm>
            <a:off x="6995160" y="3611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Envelopamento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731520" y="4114800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9" name="Text 33"/>
          <p:cNvSpPr/>
          <p:nvPr/>
        </p:nvSpPr>
        <p:spPr>
          <a:xfrm>
            <a:off x="960120" y="4069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Letreiros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2743200" y="4114800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41" name="Text 35"/>
          <p:cNvSpPr/>
          <p:nvPr/>
        </p:nvSpPr>
        <p:spPr>
          <a:xfrm>
            <a:off x="2971800" y="4069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Adesivos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754880" y="4114800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43" name="Text 37"/>
          <p:cNvSpPr/>
          <p:nvPr/>
        </p:nvSpPr>
        <p:spPr>
          <a:xfrm>
            <a:off x="4983480" y="4069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Placas</a:t>
            </a:r>
            <a:endParaRPr lang="en-US" sz="1200" dirty="0"/>
          </a:p>
        </p:txBody>
      </p:sp>
      <p:sp>
        <p:nvSpPr>
          <p:cNvPr id="44" name="Shape 38"/>
          <p:cNvSpPr/>
          <p:nvPr/>
        </p:nvSpPr>
        <p:spPr>
          <a:xfrm>
            <a:off x="6766560" y="4114800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45" name="Text 39"/>
          <p:cNvSpPr/>
          <p:nvPr/>
        </p:nvSpPr>
        <p:spPr>
          <a:xfrm>
            <a:off x="6995160" y="4069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Painéis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CROMA PRINT 4.0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Nossos Clientes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411480"/>
            <a:ext cx="182880" cy="1828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Grandes redes confiam na Croma Print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4864" cy="2011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1554480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69164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" y="22402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Beira Rio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4360" y="25603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Calçados e esporte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" y="27889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Fachadas e PDV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606040" y="137160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606040" y="1371600"/>
            <a:ext cx="54864" cy="2011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7" name="Shape 14"/>
          <p:cNvSpPr/>
          <p:nvPr/>
        </p:nvSpPr>
        <p:spPr>
          <a:xfrm>
            <a:off x="3246120" y="1554480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69164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743200" y="22402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Renner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2743200" y="25603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 e varejo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743200" y="27889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visual completa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754880" y="137160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754880" y="1371600"/>
            <a:ext cx="54864" cy="2011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4" name="Shape 20"/>
          <p:cNvSpPr/>
          <p:nvPr/>
        </p:nvSpPr>
        <p:spPr>
          <a:xfrm>
            <a:off x="5394960" y="1554480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69164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892040" y="22402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Paquetá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4892040" y="25603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Calçados premium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892040" y="27889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Letreiros e envelopamento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903720" y="137160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903720" y="1371600"/>
            <a:ext cx="54864" cy="20116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1" name="Shape 26"/>
          <p:cNvSpPr/>
          <p:nvPr/>
        </p:nvSpPr>
        <p:spPr>
          <a:xfrm>
            <a:off x="7543800" y="1554480"/>
            <a:ext cx="548640" cy="548640"/>
          </a:xfrm>
          <a:prstGeom prst="ellipse">
            <a:avLst/>
          </a:prstGeom>
          <a:solidFill>
            <a:srgbClr val="F39C12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691640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040880" y="22402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+ 304 clientes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7040880" y="25603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Diversos segmentos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7040880" y="27889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nacional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457200" y="3657600"/>
            <a:ext cx="54864" cy="8229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8" name="Text 32"/>
          <p:cNvSpPr/>
          <p:nvPr/>
        </p:nvSpPr>
        <p:spPr>
          <a:xfrm>
            <a:off x="731520" y="3749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pPr indent="0" marL="0">
              <a:buNone/>
            </a:pPr>
            <a:r>
              <a:rPr lang="en-US" sz="1200" i="1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Nosso diferencial é a combinação de qualidade artesanal com tecnologia de ponta — e agora, inteligência artificial."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CROMA PRINT 4.0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Diagnóstico Atual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411480"/>
            <a:ext cx="182880" cy="1828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Maturidade digital de 67% — base sólida para o salto com 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Maturidade Digital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737360"/>
            <a:ext cx="7680960" cy="228600"/>
          </a:xfrm>
          <a:prstGeom prst="rect">
            <a:avLst/>
          </a:prstGeom>
          <a:solidFill>
            <a:srgbClr val="C5CAD4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737360"/>
            <a:ext cx="5146243" cy="228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5969203" y="16916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23160"/>
            <a:ext cx="54864" cy="155448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60604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5156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Próprio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30175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Supabase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completa integrada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606040" y="242316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606040" y="2423160"/>
            <a:ext cx="54864" cy="155448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260604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20040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Mubisys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2788920" y="30175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precificação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automática inteligente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754880" y="242316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754880" y="2423160"/>
            <a:ext cx="54864" cy="155448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606040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34924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de Campo PWA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937760" y="30175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mobile para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equipes externas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903720" y="242316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903720" y="2423160"/>
            <a:ext cx="54864" cy="155448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60604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49808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Telegram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7086600" y="30175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e notificações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automatizadas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tecnológica pronta para integração com Claude Opus 4.6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CROMA PRINT 4.0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Análise SWOT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411480"/>
            <a:ext cx="182880" cy="1828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Posicionamento estratégico da Croma Print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402336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2984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FORÇAS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737360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6733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próprio operacional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1993392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9293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precificação ativo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249424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1854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307 clientes consolidados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505456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4414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técnico qualificado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2801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280160"/>
            <a:ext cx="4023360" cy="3200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2984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FRAQUEZAS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737360"/>
            <a:ext cx="91440" cy="914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6733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Dependência de processos manuais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1993392"/>
            <a:ext cx="91440" cy="914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9293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limitada com 6 funcionários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249424"/>
            <a:ext cx="91440" cy="914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1854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Margens pressionadas (≈7%)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505456"/>
            <a:ext cx="91440" cy="914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4414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centralizada no fundador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01752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017520"/>
            <a:ext cx="4023360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035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474720"/>
            <a:ext cx="91440" cy="914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34107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de R$ 115 bi sem IA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3730752"/>
            <a:ext cx="91440" cy="914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36667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mover no setor gráfico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" y="3986784"/>
            <a:ext cx="91440" cy="914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3922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Ganhos de margem com automação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4242816"/>
            <a:ext cx="91440" cy="914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41788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 nacional escalável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301752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3017520"/>
            <a:ext cx="402336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3" name="Text 41"/>
          <p:cNvSpPr/>
          <p:nvPr/>
        </p:nvSpPr>
        <p:spPr>
          <a:xfrm>
            <a:off x="4800600" y="3035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AMEAÇAS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846320" y="3474720"/>
            <a:ext cx="91440" cy="914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34107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Concorrentes podem copiar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3730752"/>
            <a:ext cx="91440" cy="914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0" y="36667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Resistência interna à mudança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46320" y="3986784"/>
            <a:ext cx="91440" cy="914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0" y="3922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Dependência de provedor de IA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46320" y="4242816"/>
            <a:ext cx="91440" cy="914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51" name="Text 49"/>
          <p:cNvSpPr/>
          <p:nvPr/>
        </p:nvSpPr>
        <p:spPr>
          <a:xfrm>
            <a:off x="5029200" y="41788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Regulação futura de IA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CROMA PRINT 4.0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Mercado Gráfico Brasileiro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411480"/>
            <a:ext cx="182880" cy="1828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setor bilionário pronto para a disrupção tecnológica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4747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4864" cy="1828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08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R$ 115 Bi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 anual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setor gráfico brasileiro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ABIGRAF 2025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1371600"/>
            <a:ext cx="43891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0560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20.000+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no setor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1847088"/>
            <a:ext cx="43891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18928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3,2%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0" y="1892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anual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2322576"/>
            <a:ext cx="43891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236829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5%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69280" y="23682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digitalização avançada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97680" y="2798064"/>
            <a:ext cx="43891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80560" y="284378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9280" y="28437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Usando IA integrada</a:t>
            </a:r>
            <a:endParaRPr lang="en-US" sz="12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57200" y="3429000"/>
          <a:ext cx="822960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CROMA PRINT 4.0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Tendências do Setor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411480"/>
            <a:ext cx="182880" cy="1828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Forças que moldam o futuro da comunicação visual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150876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Industrial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1920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Impressoras autônomas, corte a laser CNC,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fluxos de produção sem intervenção humana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128016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280160"/>
            <a:ext cx="54864" cy="150876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46304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8620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Generativa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74720" y="1920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assistido, precificação dinâmica,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automatizado 24/7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26480" y="128016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1280160"/>
            <a:ext cx="54864" cy="150876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2084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Omnicanalidade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309360" y="1920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PDV digital + físico integrado,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realidade aumentada para visualização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57200" y="301752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7200" y="3017520"/>
            <a:ext cx="54864" cy="1508760"/>
          </a:xfrm>
          <a:prstGeom prst="rect">
            <a:avLst/>
          </a:prstGeom>
          <a:solidFill>
            <a:srgbClr val="1ABC9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0040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5156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Sustentabilidade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4008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Materiais eco-friendly, impressão on-demand,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de desperdício com IA preditiva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91840" y="301752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91840" y="3017520"/>
            <a:ext cx="54864" cy="1508760"/>
          </a:xfrm>
          <a:prstGeom prst="rect">
            <a:avLst/>
          </a:prstGeom>
          <a:solidFill>
            <a:srgbClr val="8E44AD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20040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88620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&amp; Analytics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347472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baseadas em dados em tempo real,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 de demanda, otimização logística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126480" y="301752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126480" y="3017520"/>
            <a:ext cx="54864" cy="150876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200400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72084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Plataformização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630936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Marketplaces B2B, self-service do cliente,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orçamento instantâneo online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CROMA PRINT 4.0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Mapeamento Competitivo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411480"/>
            <a:ext cx="182880" cy="1828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concorrente direto usa IA de forma integrada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280160"/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Empresa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Próprio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Precif.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Automática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D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Croma Print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5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implantação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D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Concorrente 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Genérico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D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Concorrente 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D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Concorrente 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Genérico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3657600"/>
            <a:ext cx="54864" cy="9144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3794760"/>
            <a:ext cx="502920" cy="502920"/>
          </a:xfrm>
          <a:prstGeom prst="ellipse">
            <a:avLst/>
          </a:prstGeom>
          <a:solidFill>
            <a:srgbClr val="F39C12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392049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374904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Croma Print já está à frente dos concorrentes em infraestrutura digital. Com a integração de IA, a distância será exponencial.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39C1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Visão: Croma Print 4.0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430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operacional do futuro — IA como motor de todas as decisões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1965960" cy="2103120"/>
          </a:xfrm>
          <a:prstGeom prst="rect">
            <a:avLst/>
          </a:prstGeom>
          <a:solidFill>
            <a:srgbClr val="22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463040"/>
            <a:ext cx="196596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Shape 6"/>
          <p:cNvSpPr/>
          <p:nvPr/>
        </p:nvSpPr>
        <p:spPr>
          <a:xfrm>
            <a:off x="1097280" y="1691640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8288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Central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94360" y="26974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4.6 como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cérebro operacional 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inteira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606040" y="1463040"/>
            <a:ext cx="1965960" cy="2103120"/>
          </a:xfrm>
          <a:prstGeom prst="rect">
            <a:avLst/>
          </a:prstGeom>
          <a:solidFill>
            <a:srgbClr val="22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606040" y="1463040"/>
            <a:ext cx="196596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5" name="Shape 11"/>
          <p:cNvSpPr/>
          <p:nvPr/>
        </p:nvSpPr>
        <p:spPr>
          <a:xfrm>
            <a:off x="3246120" y="1691640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8288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74320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Total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743200" y="26974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Orçamentos, produção,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logística e atendimento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automatizados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1463040"/>
            <a:ext cx="1965960" cy="2103120"/>
          </a:xfrm>
          <a:prstGeom prst="rect">
            <a:avLst/>
          </a:prstGeom>
          <a:solidFill>
            <a:srgbClr val="22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1463040"/>
            <a:ext cx="196596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1" name="Shape 16"/>
          <p:cNvSpPr/>
          <p:nvPr/>
        </p:nvSpPr>
        <p:spPr>
          <a:xfrm>
            <a:off x="5394960" y="1691640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82880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89204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em Tempo Real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892040" y="26974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inteligente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KPIs e alertas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preditivos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903720" y="1463040"/>
            <a:ext cx="1965960" cy="2103120"/>
          </a:xfrm>
          <a:prstGeom prst="rect">
            <a:avLst/>
          </a:prstGeom>
          <a:solidFill>
            <a:srgbClr val="22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903720" y="1463040"/>
            <a:ext cx="196596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7" name="Shape 21"/>
          <p:cNvSpPr/>
          <p:nvPr/>
        </p:nvSpPr>
        <p:spPr>
          <a:xfrm>
            <a:off x="7543800" y="1691640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182880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4088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Aumentado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040880" y="26974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Humanos focados 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criatividade e relações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estratégicas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1B4F7A">
              <a:alpha val="50000"/>
            </a:srgbClr>
          </a:solidFill>
          <a:ln/>
        </p:spPr>
      </p:sp>
      <p:sp>
        <p:nvSpPr>
          <p:cNvPr id="32" name="Text 25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"Não queremos ser uma gráfica que usa IA. Queremos ser uma empresa de IA que faz comunicação visual."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400050"/>
            <a:ext cx="251460" cy="2514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Arquitetura IA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9728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4.6 como cérebro central — conectando todos os sistemas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91840" y="1828800"/>
            <a:ext cx="2560320" cy="1828800"/>
          </a:xfrm>
          <a:prstGeom prst="ellipse">
            <a:avLst/>
          </a:prstGeom>
          <a:solidFill>
            <a:srgbClr val="2E75B6">
              <a:alpha val="7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566160" y="2011680"/>
            <a:ext cx="2011680" cy="146304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2860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6616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566160" y="3108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4.6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65760" y="1188720"/>
            <a:ext cx="1645920" cy="822960"/>
          </a:xfrm>
          <a:prstGeom prst="rect">
            <a:avLst/>
          </a:prstGeom>
          <a:solidFill>
            <a:srgbClr val="22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5760" y="1188720"/>
            <a:ext cx="45720" cy="82296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128016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365760" y="2926080"/>
            <a:ext cx="1645920" cy="822960"/>
          </a:xfrm>
          <a:prstGeom prst="rect">
            <a:avLst/>
          </a:prstGeom>
          <a:solidFill>
            <a:srgbClr val="22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65760" y="2926080"/>
            <a:ext cx="45720" cy="82296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0896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301752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6949440" y="1188720"/>
            <a:ext cx="1645920" cy="822960"/>
          </a:xfrm>
          <a:prstGeom prst="rect">
            <a:avLst/>
          </a:prstGeom>
          <a:solidFill>
            <a:srgbClr val="22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949440" y="1188720"/>
            <a:ext cx="45720" cy="82296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37160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98080" y="128016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Mubisys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6949440" y="2926080"/>
            <a:ext cx="1645920" cy="822960"/>
          </a:xfrm>
          <a:prstGeom prst="rect">
            <a:avLst/>
          </a:prstGeom>
          <a:solidFill>
            <a:srgbClr val="22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949440" y="2926080"/>
            <a:ext cx="45720" cy="82296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310896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498080" y="301752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2743200" y="4206240"/>
            <a:ext cx="1645920" cy="822960"/>
          </a:xfrm>
          <a:prstGeom prst="rect">
            <a:avLst/>
          </a:prstGeom>
          <a:solidFill>
            <a:srgbClr val="22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2743200" y="4206240"/>
            <a:ext cx="45720" cy="82296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360" y="4389120"/>
            <a:ext cx="365760" cy="3657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291840" y="42976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Campo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5029200" y="4206240"/>
            <a:ext cx="1645920" cy="822960"/>
          </a:xfrm>
          <a:prstGeom prst="rect">
            <a:avLst/>
          </a:prstGeom>
          <a:solidFill>
            <a:srgbClr val="2226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5029200" y="4206240"/>
            <a:ext cx="45720" cy="82296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60" y="4389120"/>
            <a:ext cx="365760" cy="36576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577840" y="42976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900" dirty="0"/>
          </a:p>
        </p:txBody>
      </p:sp>
      <p:sp>
        <p:nvSpPr>
          <p:cNvPr id="36" name="Shape 26"/>
          <p:cNvSpPr/>
          <p:nvPr/>
        </p:nvSpPr>
        <p:spPr>
          <a:xfrm>
            <a:off x="2011680" y="1600200"/>
            <a:ext cx="1463040" cy="0"/>
          </a:xfrm>
          <a:prstGeom prst="line">
            <a:avLst/>
          </a:prstGeom>
          <a:noFill/>
          <a:ln w="19050">
            <a:solidFill>
              <a:srgbClr val="F39C12"/>
            </a:solidFill>
            <a:prstDash val="dash"/>
          </a:ln>
        </p:spPr>
      </p:sp>
      <p:sp>
        <p:nvSpPr>
          <p:cNvPr id="37" name="Shape 27"/>
          <p:cNvSpPr/>
          <p:nvPr/>
        </p:nvSpPr>
        <p:spPr>
          <a:xfrm>
            <a:off x="2011680" y="3337560"/>
            <a:ext cx="146304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dash"/>
          </a:ln>
        </p:spPr>
      </p:sp>
      <p:sp>
        <p:nvSpPr>
          <p:cNvPr id="38" name="Shape 28"/>
          <p:cNvSpPr/>
          <p:nvPr/>
        </p:nvSpPr>
        <p:spPr>
          <a:xfrm>
            <a:off x="5669280" y="1600200"/>
            <a:ext cx="1280160" cy="0"/>
          </a:xfrm>
          <a:prstGeom prst="line">
            <a:avLst/>
          </a:prstGeom>
          <a:noFill/>
          <a:ln w="19050">
            <a:solidFill>
              <a:srgbClr val="F39C12"/>
            </a:solidFill>
            <a:prstDash val="dash"/>
          </a:ln>
        </p:spPr>
      </p:sp>
      <p:sp>
        <p:nvSpPr>
          <p:cNvPr id="39" name="Shape 29"/>
          <p:cNvSpPr/>
          <p:nvPr/>
        </p:nvSpPr>
        <p:spPr>
          <a:xfrm>
            <a:off x="5669280" y="3337560"/>
            <a:ext cx="128016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dash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CROMA PRINT 4.0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 vs Humanos — Divisão de Papéis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411480"/>
            <a:ext cx="182880" cy="1828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potencializa, os humanos decidem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3931920" cy="4114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32588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405890"/>
            <a:ext cx="160020" cy="1600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13167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IA FAZ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5800" y="190195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Orçamentos automáticos (Mubisys + Claude)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5800" y="224028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2167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inicial via bot Telegram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85800" y="2578608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25054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preditiva de demanda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85800" y="2916936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28437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estoque e compras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85800" y="325526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3182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e dashboards em tempo real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85800" y="359359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Pré-aprovação de arte e layout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85800" y="393192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6" name="Text 23"/>
          <p:cNvSpPr/>
          <p:nvPr/>
        </p:nvSpPr>
        <p:spPr>
          <a:xfrm>
            <a:off x="914400" y="3858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Agendamento e roteirização de instalações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85800" y="4270248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8" name="Text 25"/>
          <p:cNvSpPr/>
          <p:nvPr/>
        </p:nvSpPr>
        <p:spPr>
          <a:xfrm>
            <a:off x="914400" y="41970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e cobrança automatizados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754880" y="12801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54880" y="1280160"/>
            <a:ext cx="3931920" cy="4114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1" name="Shape 28"/>
          <p:cNvSpPr/>
          <p:nvPr/>
        </p:nvSpPr>
        <p:spPr>
          <a:xfrm>
            <a:off x="4892040" y="1325880"/>
            <a:ext cx="320040" cy="320040"/>
          </a:xfrm>
          <a:prstGeom prst="ellipse">
            <a:avLst/>
          </a:prstGeom>
          <a:solidFill>
            <a:srgbClr val="F39C12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0" y="1405890"/>
            <a:ext cx="160020" cy="16002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303520" y="13167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HUMANOS FAZEM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4983480" y="19019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5" name="Text 31"/>
          <p:cNvSpPr/>
          <p:nvPr/>
        </p:nvSpPr>
        <p:spPr>
          <a:xfrm>
            <a:off x="521208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estratégicas e comerciais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983480" y="2240280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7" name="Text 33"/>
          <p:cNvSpPr/>
          <p:nvPr/>
        </p:nvSpPr>
        <p:spPr>
          <a:xfrm>
            <a:off x="5212080" y="2167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Relacionamento com clientes-chave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983480" y="2578608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9" name="Text 35"/>
          <p:cNvSpPr/>
          <p:nvPr/>
        </p:nvSpPr>
        <p:spPr>
          <a:xfrm>
            <a:off x="5212080" y="25054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artística e design complexo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4983480" y="2916936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41" name="Text 37"/>
          <p:cNvSpPr/>
          <p:nvPr/>
        </p:nvSpPr>
        <p:spPr>
          <a:xfrm>
            <a:off x="5212080" y="28437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Instalação e montagem em campo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4983480" y="3255264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43" name="Text 39"/>
          <p:cNvSpPr/>
          <p:nvPr/>
        </p:nvSpPr>
        <p:spPr>
          <a:xfrm>
            <a:off x="5212080" y="3182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Supervisão de qualidade final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4983480" y="359359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45" name="Text 41"/>
          <p:cNvSpPr/>
          <p:nvPr/>
        </p:nvSpPr>
        <p:spPr>
          <a:xfrm>
            <a:off x="521208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Negociações especiais e exceções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4983480" y="3931920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47" name="Text 43"/>
          <p:cNvSpPr/>
          <p:nvPr/>
        </p:nvSpPr>
        <p:spPr>
          <a:xfrm>
            <a:off x="5212080" y="3858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Inovação de produtos e serviços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4983480" y="4270248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49" name="Text 45"/>
          <p:cNvSpPr/>
          <p:nvPr/>
        </p:nvSpPr>
        <p:spPr>
          <a:xfrm>
            <a:off x="5212080" y="41970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equipe e cultura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CROMA PRINT 4.0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"/>
            <a:ext cx="1371600" cy="4114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274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Fundação  |  Meses 1-3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C5CAD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822960"/>
            <a:ext cx="20574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749808"/>
            <a:ext cx="182880" cy="18288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1" name="Shape 9"/>
          <p:cNvSpPr/>
          <p:nvPr/>
        </p:nvSpPr>
        <p:spPr>
          <a:xfrm>
            <a:off x="2514600" y="749808"/>
            <a:ext cx="182880" cy="182880"/>
          </a:xfrm>
          <a:prstGeom prst="ellipse">
            <a:avLst/>
          </a:prstGeom>
          <a:solidFill>
            <a:srgbClr val="C5CAD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749808"/>
            <a:ext cx="182880" cy="182880"/>
          </a:xfrm>
          <a:prstGeom prst="ellipse">
            <a:avLst/>
          </a:prstGeom>
          <a:solidFill>
            <a:srgbClr val="C5CAD4"/>
          </a:solidFill>
          <a:ln/>
        </p:spPr>
      </p:sp>
      <p:sp>
        <p:nvSpPr>
          <p:cNvPr id="13" name="Shape 11"/>
          <p:cNvSpPr/>
          <p:nvPr/>
        </p:nvSpPr>
        <p:spPr>
          <a:xfrm>
            <a:off x="6629400" y="749808"/>
            <a:ext cx="182880" cy="182880"/>
          </a:xfrm>
          <a:prstGeom prst="ellipse">
            <a:avLst/>
          </a:prstGeom>
          <a:solidFill>
            <a:srgbClr val="C5CAD4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09728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097280"/>
            <a:ext cx="54864" cy="21945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</a:t>
            </a:r>
            <a:endParaRPr lang="en-US" sz="14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05840" y="1527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Claude API ao ERP existente</a:t>
            </a:r>
            <a:endParaRPr lang="en-US" sz="11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20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05840" y="1847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Telegram com IA conversacional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94560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05840" y="21671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Orçamentação automática via Mubisys+IA</a:t>
            </a:r>
            <a:endParaRPr lang="en-US" sz="11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514600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5840" y="2487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 KPIs em tempo real</a:t>
            </a:r>
            <a:endParaRPr lang="en-US" sz="11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83464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05840" y="2807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de pré-análise de artes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754880" y="109728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754880" y="1097280"/>
            <a:ext cx="54864" cy="21945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9" name="Text 22"/>
          <p:cNvSpPr/>
          <p:nvPr/>
        </p:nvSpPr>
        <p:spPr>
          <a:xfrm>
            <a:off x="502920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Alvo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502920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594360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Orçamentos automatizados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02920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594360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tempo de resposta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02920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-30%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594360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Retrabalho em artes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5029200" y="2834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1800" dirty="0"/>
          </a:p>
        </p:txBody>
      </p:sp>
      <p:sp>
        <p:nvSpPr>
          <p:cNvPr id="37" name="Text 30"/>
          <p:cNvSpPr/>
          <p:nvPr/>
        </p:nvSpPr>
        <p:spPr>
          <a:xfrm>
            <a:off x="594360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 dos sistemas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457200" y="35204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457200" y="3520440"/>
            <a:ext cx="54864" cy="86868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703320"/>
            <a:ext cx="320040" cy="32004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09728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Fase 1: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320040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R$ 15.000</a:t>
            </a:r>
            <a:endParaRPr lang="en-US" sz="1800" dirty="0"/>
          </a:p>
        </p:txBody>
      </p:sp>
      <p:sp>
        <p:nvSpPr>
          <p:cNvPr id="43" name="Text 35"/>
          <p:cNvSpPr/>
          <p:nvPr/>
        </p:nvSpPr>
        <p:spPr>
          <a:xfrm>
            <a:off x="109728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Claude + infraestrutura + desenvolvimento interno. ROI esperado em 60 dias.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CROMA PRINT 4.0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"/>
            <a:ext cx="1371600" cy="4114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274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  |  Meses 4-6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C5CAD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822960"/>
            <a:ext cx="41148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749808"/>
            <a:ext cx="182880" cy="1828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1" name="Shape 9"/>
          <p:cNvSpPr/>
          <p:nvPr/>
        </p:nvSpPr>
        <p:spPr>
          <a:xfrm>
            <a:off x="2514600" y="749808"/>
            <a:ext cx="182880" cy="1828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749808"/>
            <a:ext cx="182880" cy="182880"/>
          </a:xfrm>
          <a:prstGeom prst="ellipse">
            <a:avLst/>
          </a:prstGeom>
          <a:solidFill>
            <a:srgbClr val="C5CAD4"/>
          </a:solidFill>
          <a:ln/>
        </p:spPr>
      </p:sp>
      <p:sp>
        <p:nvSpPr>
          <p:cNvPr id="13" name="Shape 11"/>
          <p:cNvSpPr/>
          <p:nvPr/>
        </p:nvSpPr>
        <p:spPr>
          <a:xfrm>
            <a:off x="6629400" y="749808"/>
            <a:ext cx="182880" cy="182880"/>
          </a:xfrm>
          <a:prstGeom prst="ellipse">
            <a:avLst/>
          </a:prstGeom>
          <a:solidFill>
            <a:srgbClr val="C5CAD4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09728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097280"/>
            <a:ext cx="54864" cy="21945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</a:t>
            </a:r>
            <a:endParaRPr lang="en-US" sz="14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05840" y="1527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self-service do cliente</a:t>
            </a:r>
            <a:endParaRPr lang="en-US" sz="11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20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05840" y="1847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produção com IA preditiva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94560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05840" y="21671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Roteirização inteligente de instalações</a:t>
            </a:r>
            <a:endParaRPr lang="en-US" sz="11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514600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5840" y="2487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financeira automatizada</a:t>
            </a:r>
            <a:endParaRPr lang="en-US" sz="11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83464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05840" y="2807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com scoring de clientes por IA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754880" y="109728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754880" y="1097280"/>
            <a:ext cx="54864" cy="21945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9" name="Text 22"/>
          <p:cNvSpPr/>
          <p:nvPr/>
        </p:nvSpPr>
        <p:spPr>
          <a:xfrm>
            <a:off x="502920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Alvo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502920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+20%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594360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Novos clientes via portal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02920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594360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 no prazo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02920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-40%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594360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gestão manual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5029200" y="2834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+15%</a:t>
            </a:r>
            <a:endParaRPr lang="en-US" sz="1800" dirty="0"/>
          </a:p>
        </p:txBody>
      </p:sp>
      <p:sp>
        <p:nvSpPr>
          <p:cNvPr id="37" name="Text 30"/>
          <p:cNvSpPr/>
          <p:nvPr/>
        </p:nvSpPr>
        <p:spPr>
          <a:xfrm>
            <a:off x="594360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operacional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457200" y="35204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457200" y="3520440"/>
            <a:ext cx="54864" cy="86868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703320"/>
            <a:ext cx="320040" cy="32004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09728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Fase 2: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320040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R$ 25.000</a:t>
            </a:r>
            <a:endParaRPr lang="en-US" sz="1800" dirty="0"/>
          </a:p>
        </p:txBody>
      </p:sp>
      <p:sp>
        <p:nvSpPr>
          <p:cNvPr id="43" name="Text 35"/>
          <p:cNvSpPr/>
          <p:nvPr/>
        </p:nvSpPr>
        <p:spPr>
          <a:xfrm>
            <a:off x="109728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do cliente + módulos avançados + integrações. ROI esperado em 90 dias.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CROMA PRINT 4.0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"/>
            <a:ext cx="137160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274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Otimização  |  Meses 7-9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C5CAD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822960"/>
            <a:ext cx="61722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749808"/>
            <a:ext cx="182880" cy="1828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9"/>
          <p:cNvSpPr/>
          <p:nvPr/>
        </p:nvSpPr>
        <p:spPr>
          <a:xfrm>
            <a:off x="2514600" y="749808"/>
            <a:ext cx="182880" cy="1828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749808"/>
            <a:ext cx="182880" cy="1828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Shape 11"/>
          <p:cNvSpPr/>
          <p:nvPr/>
        </p:nvSpPr>
        <p:spPr>
          <a:xfrm>
            <a:off x="6629400" y="749808"/>
            <a:ext cx="182880" cy="182880"/>
          </a:xfrm>
          <a:prstGeom prst="ellipse">
            <a:avLst/>
          </a:prstGeom>
          <a:solidFill>
            <a:srgbClr val="C5CAD4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09728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097280"/>
            <a:ext cx="54864" cy="21945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</a:t>
            </a:r>
            <a:endParaRPr lang="en-US" sz="14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05840" y="1527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preditiva para estoque e compras</a:t>
            </a:r>
            <a:endParaRPr lang="en-US" sz="11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20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05840" y="1847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contábil e fiscal completa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94560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05840" y="21671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para precificação</a:t>
            </a:r>
            <a:endParaRPr lang="en-US" sz="11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514600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5840" y="2487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qualidade automatizado</a:t>
            </a:r>
            <a:endParaRPr lang="en-US" sz="11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83464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05840" y="2807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 contínuo do modelo IA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754880" y="109728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754880" y="1097280"/>
            <a:ext cx="54864" cy="21945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9" name="Text 22"/>
          <p:cNvSpPr/>
          <p:nvPr/>
        </p:nvSpPr>
        <p:spPr>
          <a:xfrm>
            <a:off x="502920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Alvo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502920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-50%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594360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Custos operacionais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02920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99%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594360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Precisão orçamentos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02920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+25%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594360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 mensal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5029200" y="2834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2h</a:t>
            </a:r>
            <a:endParaRPr lang="en-US" sz="1800" dirty="0"/>
          </a:p>
        </p:txBody>
      </p:sp>
      <p:sp>
        <p:nvSpPr>
          <p:cNvPr id="37" name="Text 30"/>
          <p:cNvSpPr/>
          <p:nvPr/>
        </p:nvSpPr>
        <p:spPr>
          <a:xfrm>
            <a:off x="594360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resposta médio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457200" y="35204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457200" y="3520440"/>
            <a:ext cx="54864" cy="86868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703320"/>
            <a:ext cx="320040" cy="32004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09728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Fase 3: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320040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R$ 20.000</a:t>
            </a:r>
            <a:endParaRPr lang="en-US" sz="1800" dirty="0"/>
          </a:p>
        </p:txBody>
      </p:sp>
      <p:sp>
        <p:nvSpPr>
          <p:cNvPr id="43" name="Text 35"/>
          <p:cNvSpPr/>
          <p:nvPr/>
        </p:nvSpPr>
        <p:spPr>
          <a:xfrm>
            <a:off x="109728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Otimização de processos + ML avançado. Retorno acumulado já supera investimento total.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CROMA PRINT 4.0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"/>
            <a:ext cx="1371600" cy="41148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274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 |  Meses 10-12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749808"/>
            <a:ext cx="182880" cy="18288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0" name="Shape 8"/>
          <p:cNvSpPr/>
          <p:nvPr/>
        </p:nvSpPr>
        <p:spPr>
          <a:xfrm>
            <a:off x="2514600" y="749808"/>
            <a:ext cx="182880" cy="18288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749808"/>
            <a:ext cx="182880" cy="18288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2" name="Shape 10"/>
          <p:cNvSpPr/>
          <p:nvPr/>
        </p:nvSpPr>
        <p:spPr>
          <a:xfrm>
            <a:off x="6629400" y="749808"/>
            <a:ext cx="182880" cy="18288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09728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097280"/>
            <a:ext cx="54864" cy="21945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182880" cy="1828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05840" y="1527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SaaS para gráficas parceiras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2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05840" y="1847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 geográfica automatizada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94560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05840" y="21671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autônoma para operações diárias</a:t>
            </a:r>
            <a:endParaRPr lang="en-US" sz="11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514600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2487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B2B de comunicação visual</a:t>
            </a:r>
            <a:endParaRPr lang="en-US" sz="11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834640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05840" y="2807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Franquia digital do modelo Croma 4.0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754880" y="109728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754880" y="1097280"/>
            <a:ext cx="54864" cy="21945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8" name="Text 21"/>
          <p:cNvSpPr/>
          <p:nvPr/>
        </p:nvSpPr>
        <p:spPr>
          <a:xfrm>
            <a:off x="502920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Alvo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5029200" y="1600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44A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R$ 200k+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612648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 mensal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502920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44A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3x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612648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sem + equipe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502920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44A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+35%</a:t>
            </a:r>
            <a:endParaRPr lang="en-US" sz="1800" dirty="0"/>
          </a:p>
        </p:txBody>
      </p:sp>
      <p:sp>
        <p:nvSpPr>
          <p:cNvPr id="34" name="Text 27"/>
          <p:cNvSpPr/>
          <p:nvPr/>
        </p:nvSpPr>
        <p:spPr>
          <a:xfrm>
            <a:off x="612648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líquida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5029200" y="2834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44A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5+</a:t>
            </a:r>
            <a:endParaRPr lang="en-US" sz="1800" dirty="0"/>
          </a:p>
        </p:txBody>
      </p:sp>
      <p:sp>
        <p:nvSpPr>
          <p:cNvPr id="36" name="Text 29"/>
          <p:cNvSpPr/>
          <p:nvPr/>
        </p:nvSpPr>
        <p:spPr>
          <a:xfrm>
            <a:off x="612648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Cidades atendidas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457200" y="35204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457200" y="3520440"/>
            <a:ext cx="54864" cy="86868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703320"/>
            <a:ext cx="320040" cy="32004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09728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Fase 4: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320040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R$ 30.000</a:t>
            </a:r>
            <a:endParaRPr lang="en-US" sz="1800" dirty="0"/>
          </a:p>
        </p:txBody>
      </p:sp>
      <p:sp>
        <p:nvSpPr>
          <p:cNvPr id="42" name="Text 34"/>
          <p:cNvSpPr/>
          <p:nvPr/>
        </p:nvSpPr>
        <p:spPr>
          <a:xfrm>
            <a:off x="109728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+ marketplace + expansão. Modelo de receita recorrente ativado.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CROMA PRINT 4.0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Financeiro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411480"/>
            <a:ext cx="182880" cy="1828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total de R$ 90k com payback em 6 meses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1874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25880"/>
            <a:ext cx="54864" cy="137160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1920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R$ 90k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4864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Total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14600" y="1325880"/>
            <a:ext cx="1874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14600" y="1325880"/>
            <a:ext cx="54864" cy="137160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5087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06040" y="1920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meses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260604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0" y="1325880"/>
            <a:ext cx="1874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0" y="1325880"/>
            <a:ext cx="54864" cy="137160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50876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63440" y="1920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340%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466344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12 Meses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629400" y="1325880"/>
            <a:ext cx="1874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29400" y="1325880"/>
            <a:ext cx="54864" cy="1371600"/>
          </a:xfrm>
          <a:prstGeom prst="rect">
            <a:avLst/>
          </a:prstGeom>
          <a:solidFill>
            <a:srgbClr val="8E44AD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50876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20840" y="1920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R$ 200k+</a:t>
            </a:r>
            <a:endParaRPr lang="en-US" sz="2800" dirty="0"/>
          </a:p>
        </p:txBody>
      </p:sp>
      <p:sp>
        <p:nvSpPr>
          <p:cNvPr id="27" name="Text 21"/>
          <p:cNvSpPr/>
          <p:nvPr/>
        </p:nvSpPr>
        <p:spPr>
          <a:xfrm>
            <a:off x="672084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Fat. Mensal Meta</a:t>
            </a:r>
            <a:endParaRPr lang="en-US" sz="10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457200" y="2926080"/>
          <a:ext cx="82296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CROMA PRINT 4.0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Cenários de Crescimento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411480"/>
            <a:ext cx="182880" cy="1828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Projeção de faturamento mensal em 12 meses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280160"/>
          <a:ext cx="82296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84048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3840480"/>
            <a:ext cx="54864" cy="914400"/>
          </a:xfrm>
          <a:prstGeom prst="rect">
            <a:avLst/>
          </a:prstGeom>
          <a:solidFill>
            <a:srgbClr val="8E95A5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886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Conservador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4114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R$ 165k/mês  (+50%)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43708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 lenta, mercado estável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91840" y="384048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3840480"/>
            <a:ext cx="54864" cy="9144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3"/>
          <p:cNvSpPr/>
          <p:nvPr/>
        </p:nvSpPr>
        <p:spPr>
          <a:xfrm>
            <a:off x="3474720" y="3886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74720" y="4114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R$ 210k/mês  (+91%)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474720" y="43708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no prazo, adoção gradual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26480" y="384048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26480" y="3840480"/>
            <a:ext cx="54864" cy="9144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1" name="Text 18"/>
          <p:cNvSpPr/>
          <p:nvPr/>
        </p:nvSpPr>
        <p:spPr>
          <a:xfrm>
            <a:off x="6309360" y="3886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Otimista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09360" y="4114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R$ 280k/mês  (+155%)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309360" y="43708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rápida, mercado aquecido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CROMA PRINT 4.0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Riscos e Mitigação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411480"/>
            <a:ext cx="182880" cy="1828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proativa e planos de contingência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F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Dependência de API Claude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F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Arquitetura multi-modelo, fallback local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F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Resistência da equipe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F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Treinamento gradual, quick wins visíveis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F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 de API exceder budget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Baixo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F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Monitoramento em tempo real, rate limiting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F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Falhas em automação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F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Human-in-the-loop, rollback automático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F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Regulação de IA no Brasil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Baixo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Baixo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F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Compliance antecipado, documentação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0690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4023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geral: Implementação incremental (fail fast, learn fast) com checkpoints a cada fase e decisão de go/no-go baseada em dados.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CROMA PRINT 4.0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Governança e KPIs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411480"/>
            <a:ext cx="182880" cy="1828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conceitual de acompanhamento em tempo real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137160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1828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R$ 145k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94360" y="2194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606040" y="128016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606040" y="1280160"/>
            <a:ext cx="54864" cy="137160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41732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06324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Orçamentos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Automáticos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743200" y="1828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2743200" y="2194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+80pp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754880" y="128016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754880" y="1280160"/>
            <a:ext cx="54864" cy="137160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1732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1208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Médio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892040" y="1828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1.2h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4892040" y="2194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-70%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903720" y="128016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903720" y="1280160"/>
            <a:ext cx="54864" cy="1371600"/>
          </a:xfrm>
          <a:prstGeom prst="rect">
            <a:avLst/>
          </a:prstGeom>
          <a:solidFill>
            <a:srgbClr val="8E44AD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417320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36092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Satisfação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7040880" y="1828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4.8/5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7040880" y="2194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+0.6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57200" y="28803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57200" y="2880360"/>
            <a:ext cx="54864" cy="1828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4" name="Text 28"/>
          <p:cNvSpPr/>
          <p:nvPr/>
        </p:nvSpPr>
        <p:spPr>
          <a:xfrm>
            <a:off x="731520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de Governança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731520" y="3383280"/>
            <a:ext cx="91440" cy="914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6" name="Text 30"/>
          <p:cNvSpPr/>
          <p:nvPr/>
        </p:nvSpPr>
        <p:spPr>
          <a:xfrm>
            <a:off x="914400" y="3337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Comitê semanal de IA (30 min)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731520" y="3675888"/>
            <a:ext cx="91440" cy="914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8" name="Text 32"/>
          <p:cNvSpPr/>
          <p:nvPr/>
        </p:nvSpPr>
        <p:spPr>
          <a:xfrm>
            <a:off x="914400" y="36301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mensal de KPIs + ROI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731520" y="3968496"/>
            <a:ext cx="91440" cy="914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40" name="Text 34"/>
          <p:cNvSpPr/>
          <p:nvPr/>
        </p:nvSpPr>
        <p:spPr>
          <a:xfrm>
            <a:off x="914400" y="39227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trimestral go/no-go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731520" y="4261104"/>
            <a:ext cx="91440" cy="914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42" name="Text 36"/>
          <p:cNvSpPr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semestral de processos IA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4754880" y="28803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4754880" y="2880360"/>
            <a:ext cx="54864" cy="1828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5" name="Text 39"/>
          <p:cNvSpPr/>
          <p:nvPr/>
        </p:nvSpPr>
        <p:spPr>
          <a:xfrm>
            <a:off x="5029200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 Decisão</a:t>
            </a:r>
            <a:endParaRPr lang="en-US" sz="1300" dirty="0"/>
          </a:p>
        </p:txBody>
      </p:sp>
      <p:sp>
        <p:nvSpPr>
          <p:cNvPr id="46" name="Shape 40"/>
          <p:cNvSpPr/>
          <p:nvPr/>
        </p:nvSpPr>
        <p:spPr>
          <a:xfrm>
            <a:off x="5029200" y="3383280"/>
            <a:ext cx="91440" cy="914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47" name="Text 41"/>
          <p:cNvSpPr/>
          <p:nvPr/>
        </p:nvSpPr>
        <p:spPr>
          <a:xfrm>
            <a:off x="5212080" y="3337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em tempo real via dashboard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5029200" y="3675888"/>
            <a:ext cx="91440" cy="914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49" name="Text 43"/>
          <p:cNvSpPr/>
          <p:nvPr/>
        </p:nvSpPr>
        <p:spPr>
          <a:xfrm>
            <a:off x="5212080" y="36301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automáticos por threshold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5029200" y="3968496"/>
            <a:ext cx="91440" cy="914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51" name="Text 45"/>
          <p:cNvSpPr/>
          <p:nvPr/>
        </p:nvSpPr>
        <p:spPr>
          <a:xfrm>
            <a:off x="5212080" y="39227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semanal gerado por IA</a:t>
            </a:r>
            <a:endParaRPr lang="en-US" sz="1000" dirty="0"/>
          </a:p>
        </p:txBody>
      </p:sp>
      <p:sp>
        <p:nvSpPr>
          <p:cNvPr id="52" name="Shape 46"/>
          <p:cNvSpPr/>
          <p:nvPr/>
        </p:nvSpPr>
        <p:spPr>
          <a:xfrm>
            <a:off x="5029200" y="4261104"/>
            <a:ext cx="91440" cy="914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53" name="Text 47"/>
          <p:cNvSpPr/>
          <p:nvPr/>
        </p:nvSpPr>
        <p:spPr>
          <a:xfrm>
            <a:off x="5212080" y="42153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 contínuo equipe-IA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CROMA PRINT 4.0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Cases de Sucesso — Benchmarks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411480"/>
            <a:ext cx="182880" cy="1828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que transformaram operações com IA e automação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2743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Shape 8"/>
          <p:cNvSpPr/>
          <p:nvPr/>
        </p:nvSpPr>
        <p:spPr>
          <a:xfrm>
            <a:off x="1325880" y="1463040"/>
            <a:ext cx="640080" cy="640080"/>
          </a:xfrm>
          <a:prstGeom prst="ellipse">
            <a:avLst/>
          </a:prstGeom>
          <a:solidFill>
            <a:srgbClr val="F39C1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62306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FANUC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2514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Japão — Manufatura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Fábrica de robôs operada por robôs.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72h de produção autônoma sem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intervenção humana.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" y="3566160"/>
            <a:ext cx="2286000" cy="274320"/>
          </a:xfrm>
          <a:prstGeom prst="rect">
            <a:avLst/>
          </a:prstGeom>
          <a:solidFill>
            <a:srgbClr val="F39C12">
              <a:alpha val="1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Produtividade +400%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91840" y="128016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91840" y="1280160"/>
            <a:ext cx="54864" cy="27432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9" name="Shape 16"/>
          <p:cNvSpPr/>
          <p:nvPr/>
        </p:nvSpPr>
        <p:spPr>
          <a:xfrm>
            <a:off x="4160520" y="1463040"/>
            <a:ext cx="640080" cy="64008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40" y="162306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7472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Amazon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3474720" y="2514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EUA — Logística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47472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gerencia 750k robôs em warehouses.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Picking, packing e routing totalmente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automatizados.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474720" y="3566160"/>
            <a:ext cx="2286000" cy="274320"/>
          </a:xfrm>
          <a:prstGeom prst="rect">
            <a:avLst/>
          </a:prstGeom>
          <a:solidFill>
            <a:srgbClr val="2E75B6">
              <a:alpha val="1500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347472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operacional -20%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126480" y="128016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126480" y="1280160"/>
            <a:ext cx="54864" cy="2743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Shape 24"/>
          <p:cNvSpPr/>
          <p:nvPr/>
        </p:nvSpPr>
        <p:spPr>
          <a:xfrm>
            <a:off x="6995160" y="146304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1623060"/>
            <a:ext cx="320040" cy="32004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30936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Vistaprint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6309360" y="2514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Holanda — Impressão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30936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de impressão online 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precificação dinâmica e produção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automatizada por IA.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309360" y="3566160"/>
            <a:ext cx="2286000" cy="274320"/>
          </a:xfrm>
          <a:prstGeom prst="rect">
            <a:avLst/>
          </a:prstGeom>
          <a:solidFill>
            <a:srgbClr val="27AE60">
              <a:alpha val="15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630936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global com margens altas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Croma Print pode replicar esses resultados na escala do setor gráfico brasileiro — com investimento significativamente menor.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CROMA PRINT 4.0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Próximos Passos Imediatos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411480"/>
            <a:ext cx="182880" cy="1828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ação 30 / 60 / 90 dias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3017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280160"/>
            <a:ext cx="2651760" cy="3657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280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DIAS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164592" cy="16459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1801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API Claude no ERP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12848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4400" y="21854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Protótipo bot Telegram com IA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96896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2569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Automatizar 50% dos orçamentos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80944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2953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KPIs e dashboard base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364992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14400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Treinar equipe nos novos fluxos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3246120" y="12801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3246120" y="1280160"/>
            <a:ext cx="54864" cy="30175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Shape 17"/>
          <p:cNvSpPr/>
          <p:nvPr/>
        </p:nvSpPr>
        <p:spPr>
          <a:xfrm>
            <a:off x="3246120" y="1280160"/>
            <a:ext cx="2651760" cy="3657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5" name="Text 18"/>
          <p:cNvSpPr/>
          <p:nvPr/>
        </p:nvSpPr>
        <p:spPr>
          <a:xfrm>
            <a:off x="3246120" y="1280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 DIAS</a:t>
            </a:r>
            <a:endParaRPr lang="en-US" sz="14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1828800"/>
            <a:ext cx="164592" cy="16459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703320" y="1801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Telegram em produção</a:t>
            </a:r>
            <a:endParaRPr lang="en-US" sz="10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2212848"/>
            <a:ext cx="164592" cy="16459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703320" y="21854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orçamentos automatizados</a:t>
            </a:r>
            <a:endParaRPr lang="en-US" sz="10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2596896"/>
            <a:ext cx="164592" cy="16459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703320" y="2569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cliente MVP online</a:t>
            </a:r>
            <a:endParaRPr lang="en-US" sz="10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0" y="2980944"/>
            <a:ext cx="164592" cy="164592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3703320" y="2953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financeira parcial</a:t>
            </a:r>
            <a:endParaRPr lang="en-US" sz="10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0" y="3364992"/>
            <a:ext cx="164592" cy="164592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3703320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relatório de ROI</a:t>
            </a:r>
            <a:endParaRPr lang="en-US" sz="1000" dirty="0"/>
          </a:p>
        </p:txBody>
      </p:sp>
      <p:sp>
        <p:nvSpPr>
          <p:cNvPr id="36" name="Shape 24"/>
          <p:cNvSpPr/>
          <p:nvPr/>
        </p:nvSpPr>
        <p:spPr>
          <a:xfrm>
            <a:off x="6035040" y="12801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Shape 25"/>
          <p:cNvSpPr/>
          <p:nvPr/>
        </p:nvSpPr>
        <p:spPr>
          <a:xfrm>
            <a:off x="6035040" y="1280160"/>
            <a:ext cx="54864" cy="30175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8" name="Shape 26"/>
          <p:cNvSpPr/>
          <p:nvPr/>
        </p:nvSpPr>
        <p:spPr>
          <a:xfrm>
            <a:off x="6035040" y="1280160"/>
            <a:ext cx="2651760" cy="3657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9" name="Text 27"/>
          <p:cNvSpPr/>
          <p:nvPr/>
        </p:nvSpPr>
        <p:spPr>
          <a:xfrm>
            <a:off x="6035040" y="1280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 DIAS</a:t>
            </a:r>
            <a:endParaRPr lang="en-US" sz="1400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7920" y="1828800"/>
            <a:ext cx="164592" cy="164592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6492240" y="1801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Fase 1 completa</a:t>
            </a:r>
            <a:endParaRPr lang="en-US" sz="100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7920" y="2212848"/>
            <a:ext cx="164592" cy="164592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6492240" y="21854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respondendo clientes 24/7</a:t>
            </a:r>
            <a:endParaRPr lang="en-US" sz="10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7920" y="2596896"/>
            <a:ext cx="164592" cy="164592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6492240" y="2569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KPIs operacional</a:t>
            </a:r>
            <a:endParaRPr lang="en-US" sz="1000" dirty="0"/>
          </a:p>
        </p:txBody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7920" y="2980944"/>
            <a:ext cx="164592" cy="164592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6492240" y="2953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atingido (ou próximo)</a:t>
            </a:r>
            <a:endParaRPr lang="en-US" sz="1000" dirty="0"/>
          </a:p>
        </p:txBody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7920" y="3364992"/>
            <a:ext cx="164592" cy="164592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6492240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go/no-go Fase 2</a:t>
            </a:r>
            <a:endParaRPr lang="en-US" sz="1000" dirty="0"/>
          </a:p>
        </p:txBody>
      </p:sp>
      <p:sp>
        <p:nvSpPr>
          <p:cNvPr id="50" name="Shape 33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1" name="Text 34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necessária agora: aprovação do investimento da Fase 1 (R$ 15.000) para início imediato.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E75B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2286000"/>
            <a:ext cx="5486400" cy="5486400"/>
          </a:xfrm>
          <a:prstGeom prst="ellipse">
            <a:avLst/>
          </a:prstGeom>
          <a:solidFill>
            <a:srgbClr val="F39C12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315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futuro da comunicação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 é inteligente.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22860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 Croma Print vai liderar essa transformação.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4572000" cy="1280160"/>
          </a:xfrm>
          <a:prstGeom prst="rect">
            <a:avLst/>
          </a:prstGeom>
          <a:solidFill>
            <a:srgbClr val="222640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832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CROMA PRINT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C5C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Visual Profissional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4A9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junior.cromaprint@gmail.com</a:t>
            </a:r>
            <a:endParaRPr lang="en-US" sz="1800" dirty="0"/>
          </a:p>
          <a:p>
            <a:pPr indent="0" marL="0">
              <a:buNone/>
            </a:pPr>
            <a:r>
              <a:rPr lang="en-US" sz="900" dirty="0">
                <a:solidFill>
                  <a:srgbClr val="8E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Claude Opus 4.6  |  Março 2026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0" y="3474720"/>
            <a:ext cx="731520" cy="7315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657600"/>
            <a:ext cx="365760" cy="3657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589520" y="4206240"/>
            <a:ext cx="457200" cy="457200"/>
          </a:xfrm>
          <a:prstGeom prst="ellipse">
            <a:avLst/>
          </a:prstGeom>
          <a:solidFill>
            <a:srgbClr val="F39C1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820" y="43205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Croma Print 4.0 — A Primeira Empresa de Comunicação Visual Gerida por IA</dc:title>
  <dc:subject>PptxGenJS Presentation</dc:subject>
  <dc:creator>Croma Print</dc:creator>
  <cp:lastModifiedBy>Croma Print</cp:lastModifiedBy>
  <cp:revision>1</cp:revision>
  <dcterms:created xsi:type="dcterms:W3CDTF">2026-03-23T00:58:34Z</dcterms:created>
  <dcterms:modified xsi:type="dcterms:W3CDTF">2026-03-23T00:58:34Z</dcterms:modified>
</cp:coreProperties>
</file>